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100584"/>
          </a:xfrm>
          <a:prstGeom prst="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"/>
            <a:ext cx="12191695" cy="100584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"/>
            <a:ext cx="12191695" cy="100584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1C3454"/>
                </a:solidFill>
                <a:latin typeface="Aptos Display"/>
              </a:defRPr>
            </a:pPr>
            <a:r>
              <a:t>Wine Sample Clustering Using</a:t>
            </a:r>
            <a:br/>
            <a:r>
              <a:t>K-Means and Hierarchical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372AA"/>
                </a:solidFill>
                <a:latin typeface="Aptos"/>
              </a:defRPr>
            </a:pPr>
            <a:r>
              <a:t>Machine Learning • Unsupervised Learning</a:t>
            </a:r>
          </a:p>
        </p:txBody>
      </p:sp>
      <p:sp>
        <p:nvSpPr>
          <p:cNvPr id="7" name="Oval 6"/>
          <p:cNvSpPr/>
          <p:nvPr/>
        </p:nvSpPr>
        <p:spPr>
          <a:xfrm>
            <a:off x="3200400" y="3474720"/>
            <a:ext cx="146304" cy="146304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66160" y="3886200"/>
            <a:ext cx="146304" cy="146304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31920" y="3703320"/>
            <a:ext cx="146304" cy="146304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74720" y="4160520"/>
            <a:ext cx="146304" cy="146304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74920" y="3886200"/>
            <a:ext cx="146304" cy="146304"/>
          </a:xfrm>
          <a:prstGeom prst="ellipse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0" y="4297680"/>
            <a:ext cx="146304" cy="146304"/>
          </a:xfrm>
          <a:prstGeom prst="ellipse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52160" y="4023360"/>
            <a:ext cx="146304" cy="146304"/>
          </a:xfrm>
          <a:prstGeom prst="ellipse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49240" y="4572000"/>
            <a:ext cx="146304" cy="146304"/>
          </a:xfrm>
          <a:prstGeom prst="ellipse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03720" y="3383280"/>
            <a:ext cx="146304" cy="146304"/>
          </a:xfrm>
          <a:prstGeom prst="ellipse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0" y="3794760"/>
            <a:ext cx="146304" cy="146304"/>
          </a:xfrm>
          <a:prstGeom prst="ellipse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26679" y="3566160"/>
            <a:ext cx="146304" cy="146304"/>
          </a:xfrm>
          <a:prstGeom prst="ellipse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06640" y="4160520"/>
            <a:ext cx="146304" cy="146304"/>
          </a:xfrm>
          <a:prstGeom prst="ellipse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4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1188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97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943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Wine Sample Clustering • Machine Learning • KLH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Wine samples contain multiple chemical properties such as alcohol, acidity, magnesium, flavonoids and color intensity.</a:t>
            </a:r>
          </a:p>
          <a:p>
            <a:pPr>
              <a:spcAft>
                <a:spcPts val="7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Different samples can show similarities and differences across these chemical measurements.</a:t>
            </a:r>
          </a:p>
          <a:p>
            <a:pPr>
              <a:spcAft>
                <a:spcPts val="7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The project uses unsupervised machine learning to discover natural groupings in the wine data.</a:t>
            </a:r>
          </a:p>
          <a:p>
            <a:pPr>
              <a:spcAft>
                <a:spcPts val="7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Two clustering approaches are studied: K-Means and Hierarchical Clustering.</a:t>
            </a:r>
          </a:p>
          <a:p>
            <a:pPr>
              <a:spcAft>
                <a:spcPts val="7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The results can help reveal hidden patterns without using predefined class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554480"/>
            <a:ext cx="3977639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554480"/>
            <a:ext cx="73152" cy="1325880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1700784"/>
            <a:ext cx="3611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454"/>
                </a:solidFill>
                <a:latin typeface="Aptos Display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8" y="2121408"/>
            <a:ext cx="36118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Aptos"/>
              </a:defRPr>
            </a:pPr>
            <a:r>
              <a:t>Chemical properties of wine samples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063240"/>
            <a:ext cx="3977639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3063240"/>
            <a:ext cx="73152" cy="1325880"/>
          </a:xfrm>
          <a:prstGeom prst="rect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3528" y="3209544"/>
            <a:ext cx="3611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454"/>
                </a:solidFill>
                <a:latin typeface="Aptos Display"/>
              </a:defRPr>
            </a:pPr>
            <a: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8" y="3630168"/>
            <a:ext cx="36118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Aptos"/>
              </a:defRPr>
            </a:pPr>
            <a:r>
              <a:t>Preprocess → Standardize → Cluster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4572000"/>
            <a:ext cx="3977639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4572000"/>
            <a:ext cx="73152" cy="1325880"/>
          </a:xfrm>
          <a:prstGeom prst="rect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4718304"/>
            <a:ext cx="3611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454"/>
                </a:solidFill>
                <a:latin typeface="Aptos Display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5138928"/>
            <a:ext cx="36118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Aptos"/>
              </a:defRPr>
            </a:pPr>
            <a:r>
              <a:t>Groups of similar wine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4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1188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97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943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Wine Sample Clustering • Machine Learning • KLH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3434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343400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6362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3454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84248"/>
            <a:ext cx="489204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34"/>
                </a:solidFill>
                <a:latin typeface="Aptos"/>
              </a:defRPr>
            </a:pPr>
            <a:r>
              <a:t>A wine dataset may contain many chemical attributes with different scales. Examining every sample manually makes it difficult to identify natural groups and relationships between samples.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3434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73152" cy="4343400"/>
          </a:xfrm>
          <a:prstGeom prst="rect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56362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3454"/>
                </a:solidFill>
                <a:latin typeface="Aptos Display"/>
              </a:defRPr>
            </a:pPr>
            <a:r>
              <a:t>Proposed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984248"/>
            <a:ext cx="489204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34"/>
                </a:solidFill>
                <a:latin typeface="Aptos"/>
              </a:defRPr>
            </a:pPr>
            <a:r>
              <a:t>Apply unsupervised clustering to group samples according to similarity. K-Means provides predefined cluster groups, while Hierarchical Clustering provides a tree-like view of relationships.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5897880"/>
            <a:ext cx="8321040" cy="438912"/>
          </a:xfrm>
          <a:prstGeom prst="round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C3454"/>
                </a:solidFill>
                <a:latin typeface="Aptos"/>
              </a:defRPr>
            </a:pPr>
            <a:r>
              <a:t>Main Goal: Discover meaningful and interpretable groupings of wine samples.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4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1188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97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943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Wine Sample Clustering • Machine Learning • KLH University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07592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  <a:latin typeface="Aptos"/>
              </a:defRPr>
            </a:pPr>
            <a:r>
              <a:t>Understand the wine dataset and its chemical attributes.</a:t>
            </a:r>
          </a:p>
        </p:txBody>
      </p:sp>
      <p:sp>
        <p:nvSpPr>
          <p:cNvPr id="9" name="Oval 8"/>
          <p:cNvSpPr/>
          <p:nvPr/>
        </p:nvSpPr>
        <p:spPr>
          <a:xfrm>
            <a:off x="6309359" y="1325880"/>
            <a:ext cx="502920" cy="502920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59" y="1307592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  <a:latin typeface="Aptos"/>
              </a:defRPr>
            </a:pPr>
            <a:r>
              <a:t>Preprocess the data and standardize features with different scales.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834639"/>
            <a:ext cx="502920" cy="502920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16351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  <a:latin typeface="Aptos"/>
              </a:defRPr>
            </a:pPr>
            <a:r>
              <a:t>Apply K-Means clustering to form a chosen number of groups.</a:t>
            </a:r>
          </a:p>
        </p:txBody>
      </p:sp>
      <p:sp>
        <p:nvSpPr>
          <p:cNvPr id="13" name="Oval 12"/>
          <p:cNvSpPr/>
          <p:nvPr/>
        </p:nvSpPr>
        <p:spPr>
          <a:xfrm>
            <a:off x="6309359" y="2834639"/>
            <a:ext cx="502920" cy="502920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816351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  <a:latin typeface="Aptos"/>
              </a:defRPr>
            </a:pPr>
            <a:r>
              <a:t>Use the Elbow Method to support selection of a suitable K.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25112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  <a:latin typeface="Aptos"/>
              </a:defRPr>
            </a:pPr>
            <a:r>
              <a:t>Apply Hierarchical Clustering and visualize relationships with a dendrogram.</a:t>
            </a:r>
          </a:p>
        </p:txBody>
      </p:sp>
      <p:sp>
        <p:nvSpPr>
          <p:cNvPr id="17" name="Oval 16"/>
          <p:cNvSpPr/>
          <p:nvPr/>
        </p:nvSpPr>
        <p:spPr>
          <a:xfrm>
            <a:off x="6309359" y="4343400"/>
            <a:ext cx="502920" cy="502920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4325112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  <a:latin typeface="Aptos"/>
              </a:defRPr>
            </a:pPr>
            <a:r>
              <a:t>Evaluate and compare the clustering quality using Silhouette Score and visualizations.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4"/>
                </a:solidFill>
                <a:latin typeface="Aptos Display"/>
              </a:defRPr>
            </a:pPr>
            <a: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1188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97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943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Wine Sample Clustering • Machine Learning • KLH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657600" cy="18288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72184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454"/>
                </a:solidFill>
                <a:latin typeface="Aptos Display"/>
              </a:defRPr>
            </a:pPr>
            <a: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92807"/>
            <a:ext cx="32918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Aptos"/>
              </a:defRPr>
            </a:pPr>
            <a:r>
              <a:t>Wine dataset containing multiple chemical attributes of different wine samples.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3246120" cy="18288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325880"/>
            <a:ext cx="73152" cy="1828800"/>
          </a:xfrm>
          <a:prstGeom prst="rect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47218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454"/>
                </a:solidFill>
                <a:latin typeface="Aptos Display"/>
              </a:defRPr>
            </a:pPr>
            <a:r>
              <a:t>Feature 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1892807"/>
            <a:ext cx="2880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Aptos"/>
              </a:defRPr>
            </a:pPr>
            <a:r>
              <a:t>Alcohol • acidity • magnesium • flavonoids • color intensity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325880"/>
            <a:ext cx="3566160" cy="18288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325880"/>
            <a:ext cx="73152" cy="1828800"/>
          </a:xfrm>
          <a:prstGeom prst="rect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472184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454"/>
                </a:solidFill>
                <a:latin typeface="Aptos Display"/>
              </a:defRPr>
            </a:pPr>
            <a:r>
              <a:t>Learning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892807"/>
            <a:ext cx="32004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Aptos"/>
              </a:defRPr>
            </a:pPr>
            <a:r>
              <a:t>Unsupervised Learning → Clustering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005840" y="3611880"/>
          <a:ext cx="100584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657600"/>
                <a:gridCol w="3931920"/>
              </a:tblGrid>
              <a:tr h="3931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C3454"/>
                          </a:solidFill>
                          <a:latin typeface="Aptos"/>
                        </a:defRPr>
                      </a:pPr>
                      <a:r>
                        <a:t>Feature Area</a:t>
                      </a:r>
                    </a:p>
                  </a:txBody>
                  <a:tcPr>
                    <a:solidFill>
                      <a:srgbClr val="E1E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C3454"/>
                          </a:solidFill>
                          <a:latin typeface="Aptos"/>
                        </a:defRPr>
                      </a:pPr>
                      <a:r>
                        <a:t>Example Attributes</a:t>
                      </a:r>
                    </a:p>
                  </a:txBody>
                  <a:tcPr>
                    <a:solidFill>
                      <a:srgbClr val="E1E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C3454"/>
                          </a:solidFill>
                          <a:latin typeface="Aptos"/>
                        </a:defRPr>
                      </a:pPr>
                      <a:r>
                        <a:t>Role in Clustering</a:t>
                      </a:r>
                    </a:p>
                  </a:txBody>
                  <a:tcPr>
                    <a:solidFill>
                      <a:srgbClr val="E1ED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Composition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Alcohol, magnesium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Describe chemical composition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Acidity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Acidity-related measurements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Capture chemical differences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Phenolics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Flavonoids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Represent phenolic characteristics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Color intensity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Capture visual/chemical variation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4"/>
                </a:solidFill>
                <a:latin typeface="Aptos Display"/>
              </a:defRPr>
            </a:pPr>
            <a:r>
              <a:t>Tools, Libraries and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1188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97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943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Wine Sample Clustering • Machine Learning • KLH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2900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1143000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7218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454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92807"/>
            <a:ext cx="3063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Programming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25880"/>
            <a:ext cx="342900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325880"/>
            <a:ext cx="73152" cy="1143000"/>
          </a:xfrm>
          <a:prstGeom prst="rect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47218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454"/>
                </a:solidFill>
                <a:latin typeface="Aptos Display"/>
              </a:defRPr>
            </a:pPr>
            <a:r>
              <a:t>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892807"/>
            <a:ext cx="3063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Data loading and manipulation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325880"/>
            <a:ext cx="342900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325880"/>
            <a:ext cx="73152" cy="1143000"/>
          </a:xfrm>
          <a:prstGeom prst="rect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47218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454"/>
                </a:solidFill>
                <a:latin typeface="Aptos Display"/>
              </a:defRPr>
            </a:pPr>
            <a:r>
              <a:t>NumPy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892807"/>
            <a:ext cx="3063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Numerical calculations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743200"/>
            <a:ext cx="342900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2743200"/>
            <a:ext cx="73152" cy="1143000"/>
          </a:xfrm>
          <a:prstGeom prst="rect">
            <a:avLst/>
          </a:prstGeom>
          <a:solidFill>
            <a:srgbClr val="DD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28895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454"/>
                </a:solidFill>
                <a:latin typeface="Aptos Display"/>
              </a:defRPr>
            </a:pPr>
            <a:r>
              <a:t>Matplotlib / Seaborn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310128"/>
            <a:ext cx="3063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2743200"/>
            <a:ext cx="342900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2743200"/>
            <a:ext cx="73152" cy="1143000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28895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454"/>
                </a:solidFill>
                <a:latin typeface="Aptos Display"/>
              </a:defRPr>
            </a:pPr>
            <a:r>
              <a:t>Scikit-learn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310128"/>
            <a:ext cx="3063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K-Means and preprocessing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743200"/>
            <a:ext cx="342900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2743200"/>
            <a:ext cx="73152" cy="1143000"/>
          </a:xfrm>
          <a:prstGeom prst="rect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28895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454"/>
                </a:solidFill>
                <a:latin typeface="Aptos Display"/>
              </a:defRPr>
            </a:pPr>
            <a:r>
              <a:t>SciPy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310128"/>
            <a:ext cx="3063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Hierarchical clustering / dendrogram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526280"/>
            <a:ext cx="1325880" cy="685800"/>
          </a:xfrm>
          <a:prstGeom prst="roundRect">
            <a:avLst/>
          </a:prstGeom>
          <a:solidFill>
            <a:srgbClr val="E1EDFA"/>
          </a:solidFill>
          <a:ln>
            <a:solidFill>
              <a:srgbClr val="437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C3454"/>
                </a:solidFill>
                <a:latin typeface="Aptos"/>
              </a:defRPr>
            </a:pPr>
            <a:r>
              <a:t>Load Data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65960" y="4873752"/>
            <a:ext cx="502920" cy="0"/>
          </a:xfrm>
          <a:prstGeom prst="line">
            <a:avLst/>
          </a:prstGeom>
          <a:ln w="25400">
            <a:solidFill>
              <a:srgbClr val="437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514600" y="4526280"/>
            <a:ext cx="1325880" cy="685800"/>
          </a:xfrm>
          <a:prstGeom prst="roundRect">
            <a:avLst/>
          </a:prstGeom>
          <a:solidFill>
            <a:srgbClr val="E1EDFA"/>
          </a:solidFill>
          <a:ln>
            <a:solidFill>
              <a:srgbClr val="437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C3454"/>
                </a:solidFill>
                <a:latin typeface="Aptos"/>
              </a:defRPr>
            </a:pPr>
            <a:r>
              <a:t>Clean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840480" y="4873752"/>
            <a:ext cx="502920" cy="0"/>
          </a:xfrm>
          <a:prstGeom prst="line">
            <a:avLst/>
          </a:prstGeom>
          <a:ln w="25400">
            <a:solidFill>
              <a:srgbClr val="437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389120" y="4526280"/>
            <a:ext cx="1325880" cy="685800"/>
          </a:xfrm>
          <a:prstGeom prst="roundRect">
            <a:avLst/>
          </a:prstGeom>
          <a:solidFill>
            <a:srgbClr val="E1EDFA"/>
          </a:solidFill>
          <a:ln>
            <a:solidFill>
              <a:srgbClr val="437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C3454"/>
                </a:solidFill>
                <a:latin typeface="Aptos"/>
              </a:defRPr>
            </a:pPr>
            <a:r>
              <a:t>Standardize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715000" y="4873752"/>
            <a:ext cx="502920" cy="0"/>
          </a:xfrm>
          <a:prstGeom prst="line">
            <a:avLst/>
          </a:prstGeom>
          <a:ln w="25400">
            <a:solidFill>
              <a:srgbClr val="437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263640" y="4526280"/>
            <a:ext cx="1325880" cy="685800"/>
          </a:xfrm>
          <a:prstGeom prst="roundRect">
            <a:avLst/>
          </a:prstGeom>
          <a:solidFill>
            <a:srgbClr val="EDF5EF"/>
          </a:solidFill>
          <a:ln>
            <a:solidFill>
              <a:srgbClr val="4C9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C3454"/>
                </a:solidFill>
                <a:latin typeface="Aptos"/>
              </a:defRPr>
            </a:pPr>
            <a:r>
              <a:t>K-Means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589519" y="4873752"/>
            <a:ext cx="502921" cy="0"/>
          </a:xfrm>
          <a:prstGeom prst="line">
            <a:avLst/>
          </a:prstGeom>
          <a:ln w="25400">
            <a:solidFill>
              <a:srgbClr val="437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138160" y="4526280"/>
            <a:ext cx="1325880" cy="685800"/>
          </a:xfrm>
          <a:prstGeom prst="roundRect">
            <a:avLst/>
          </a:prstGeom>
          <a:solidFill>
            <a:srgbClr val="EDF5EF"/>
          </a:solidFill>
          <a:ln>
            <a:solidFill>
              <a:srgbClr val="4C9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C3454"/>
                </a:solidFill>
                <a:latin typeface="Aptos"/>
              </a:defRPr>
            </a:pPr>
            <a:r>
              <a:t>Hierarchical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64040" y="4873752"/>
            <a:ext cx="502920" cy="0"/>
          </a:xfrm>
          <a:prstGeom prst="line">
            <a:avLst/>
          </a:prstGeom>
          <a:ln w="25400">
            <a:solidFill>
              <a:srgbClr val="437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012680" y="4526280"/>
            <a:ext cx="1325880" cy="685800"/>
          </a:xfrm>
          <a:prstGeom prst="roundRect">
            <a:avLst/>
          </a:prstGeom>
          <a:solidFill>
            <a:srgbClr val="EDF5EF"/>
          </a:solidFill>
          <a:ln>
            <a:solidFill>
              <a:srgbClr val="4C9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C3454"/>
                </a:solidFill>
                <a:latin typeface="Aptos"/>
              </a:defRPr>
            </a:pPr>
            <a:r>
              <a:t>Evaluate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4"/>
                </a:solidFill>
                <a:latin typeface="Aptos Display"/>
              </a:defRPr>
            </a:pPr>
            <a:r>
              <a:t>Step 1 — Data Preprocessing &amp; Standardization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1188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97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943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Wine Sample Clustering • Machine Learning • KLH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Inspect the dataset for missing values, duplicates and incorrect data types.</a:t>
            </a:r>
          </a:p>
          <a:p>
            <a:pPr>
              <a:spcAft>
                <a:spcPts val="7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Select the numerical chemical attributes required for clustering.</a:t>
            </a:r>
          </a:p>
          <a:p>
            <a:pPr>
              <a:spcAft>
                <a:spcPts val="7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Standardize the features so variables measured on different scales have an appropriate influence.</a:t>
            </a:r>
          </a:p>
          <a:p>
            <a:pPr>
              <a:spcAft>
                <a:spcPts val="7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Standardization is important because distance-based clustering is sensitive to feature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417320"/>
            <a:ext cx="4892040" cy="2286000"/>
          </a:xfrm>
          <a:prstGeom prst="roundRect">
            <a:avLst/>
          </a:prstGeom>
          <a:solidFill>
            <a:srgbClr val="EFF4F9"/>
          </a:solidFill>
          <a:ln>
            <a:solidFill>
              <a:srgbClr val="D3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27048"/>
            <a:ext cx="4617720" cy="20665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4"/>
                </a:solidFill>
                <a:latin typeface="Consolas"/>
              </a:defRPr>
            </a:pPr>
            <a:r>
              <a:t>from sklearn.preprocessing import StandardScaler</a:t>
            </a:r>
            <a:br/>
            <a:br/>
            <a:r>
              <a:t>X = df[feature_columns]</a:t>
            </a:r>
            <a:br/>
            <a:r>
              <a:t>scaler = StandardScaler()</a:t>
            </a:r>
            <a:br/>
            <a:r>
              <a:t>X_scaled = scaler.fit_transform(X)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977639"/>
            <a:ext cx="4892040" cy="141732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3977639"/>
            <a:ext cx="73152" cy="1417320"/>
          </a:xfrm>
          <a:prstGeom prst="rect">
            <a:avLst/>
          </a:prstGeom>
          <a:solidFill>
            <a:srgbClr val="DD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4123944"/>
            <a:ext cx="4526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454"/>
                </a:solidFill>
                <a:latin typeface="Aptos Display"/>
              </a:defRPr>
            </a:pPr>
            <a:r>
              <a:t>Why Standardize?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4544568"/>
            <a:ext cx="452627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A feature with a larger numeric range could otherwise dominate distance calculations.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4"/>
                </a:solidFill>
                <a:latin typeface="Aptos Display"/>
              </a:defRPr>
            </a:pPr>
            <a:r>
              <a:t>Step 2 — K-Means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1188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97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943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Wine Sample Clustering • Machine Learning • KLH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623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K-Means is an unsupervised algorithm that divides samples into K clusters.</a:t>
            </a:r>
          </a:p>
          <a:p>
            <a:pPr>
              <a:spcAft>
                <a:spcPts val="7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Each sample is assigned to the nearest cluster centroid.</a:t>
            </a:r>
          </a:p>
          <a:p>
            <a:pPr>
              <a:spcAft>
                <a:spcPts val="7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The algorithm updates centroids and assignments until the clusters stabilize.</a:t>
            </a:r>
          </a:p>
          <a:p>
            <a:pPr>
              <a:spcAft>
                <a:spcPts val="7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The Elbow Method can be used to choose a suitable number of clusters.</a:t>
            </a:r>
          </a:p>
          <a:p>
            <a:pPr>
              <a:spcAft>
                <a:spcPts val="7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A cluster plot can visualize the resulting groups after dimensionality reduction or feature selection.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417320"/>
            <a:ext cx="4800600" cy="1920240"/>
          </a:xfrm>
          <a:prstGeom prst="roundRect">
            <a:avLst/>
          </a:prstGeom>
          <a:solidFill>
            <a:srgbClr val="EFF4F9"/>
          </a:solidFill>
          <a:ln>
            <a:solidFill>
              <a:srgbClr val="D3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27048"/>
            <a:ext cx="4526280" cy="1700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4"/>
                </a:solidFill>
                <a:latin typeface="Consolas"/>
              </a:defRPr>
            </a:pPr>
            <a:r>
              <a:t>from sklearn.cluster import KMeans</a:t>
            </a:r>
            <a:br/>
            <a:br/>
            <a:r>
              <a:t>kmeans = KMeans(n_clusters=3, random_state=42)</a:t>
            </a:r>
            <a:br/>
            <a:r>
              <a:t>labels = kmeans.fit_predict(X_scaled)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611880"/>
            <a:ext cx="4800600" cy="173736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3611880"/>
            <a:ext cx="73152" cy="1737360"/>
          </a:xfrm>
          <a:prstGeom prst="rect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3758184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454"/>
                </a:solidFill>
                <a:latin typeface="Aptos Display"/>
              </a:defRPr>
            </a:pPr>
            <a:r>
              <a:t>Elbow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4178808"/>
            <a:ext cx="443484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Run K-Means for several K values and examine the within-cluster error (inertia). A bend in the curve can indicate a suitable 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4"/>
                </a:solidFill>
                <a:latin typeface="Aptos Display"/>
              </a:defRPr>
            </a:pPr>
            <a:r>
              <a:t>Step 3 — Hierarchical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1188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97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943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Wine Sample Clustering • Machine Learning • KLH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Hierarchical Clustering builds a hierarchy of relationships between samples.</a:t>
            </a:r>
          </a:p>
          <a:p>
            <a:pPr>
              <a:spcAft>
                <a:spcPts val="7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Agglomerative clustering starts with individual samples and progressively merges similar groups.</a:t>
            </a:r>
          </a:p>
          <a:p>
            <a:pPr>
              <a:spcAft>
                <a:spcPts val="7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A dendrogram displays the sequence of merges and the distance between groups.</a:t>
            </a:r>
          </a:p>
          <a:p>
            <a:pPr>
              <a:spcAft>
                <a:spcPts val="7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A horizontal cut through the dendrogram can be used to obtain a chosen number of clusters.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417320"/>
            <a:ext cx="4754880" cy="2148840"/>
          </a:xfrm>
          <a:prstGeom prst="roundRect">
            <a:avLst/>
          </a:prstGeom>
          <a:solidFill>
            <a:srgbClr val="EFF4F9"/>
          </a:solidFill>
          <a:ln>
            <a:solidFill>
              <a:srgbClr val="D3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27048"/>
            <a:ext cx="4480560" cy="1929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4"/>
                </a:solidFill>
                <a:latin typeface="Consolas"/>
              </a:defRPr>
            </a:pPr>
            <a:r>
              <a:t>from scipy.cluster.hierarchy import linkage, dendrogram</a:t>
            </a:r>
            <a:br/>
            <a:br/>
            <a:r>
              <a:t>Z = linkage(X_scaled, method="ward")</a:t>
            </a:r>
            <a:br/>
            <a:r>
              <a:t>dendrogram(Z)</a:t>
            </a:r>
            <a:br/>
            <a:r>
              <a:t>plt.show()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069080"/>
            <a:ext cx="4663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C3454"/>
                </a:solidFill>
                <a:latin typeface="Aptos Display"/>
              </a:defRPr>
            </a:pPr>
            <a:r>
              <a:t>Dendrogram concept</a:t>
            </a:r>
          </a:p>
          <a:p>
            <a:pPr algn="ctr">
              <a:defRPr sz="1300">
                <a:solidFill>
                  <a:srgbClr val="5F6976"/>
                </a:solidFill>
                <a:latin typeface="Aptos"/>
              </a:defRPr>
            </a:pPr>
            <a:r>
              <a:t>Branches show how similar samples/groups are merged.</a:t>
            </a:r>
          </a:p>
        </p:txBody>
      </p:sp>
      <p:sp>
        <p:nvSpPr>
          <p:cNvPr id="11" name="Oval 10"/>
          <p:cNvSpPr/>
          <p:nvPr/>
        </p:nvSpPr>
        <p:spPr>
          <a:xfrm>
            <a:off x="6995160" y="5394960"/>
            <a:ext cx="109728" cy="109728"/>
          </a:xfrm>
          <a:prstGeom prst="ellipse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5394960"/>
            <a:ext cx="109728" cy="109728"/>
          </a:xfrm>
          <a:prstGeom prst="ellipse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20" y="5394960"/>
            <a:ext cx="109728" cy="109728"/>
          </a:xfrm>
          <a:prstGeom prst="ellipse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15400" y="5394960"/>
            <a:ext cx="109728" cy="109728"/>
          </a:xfrm>
          <a:prstGeom prst="ellipse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55480" y="5394960"/>
            <a:ext cx="109728" cy="109728"/>
          </a:xfrm>
          <a:prstGeom prst="ellipse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95560" y="5394960"/>
            <a:ext cx="109728" cy="109728"/>
          </a:xfrm>
          <a:prstGeom prst="ellipse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35640" y="5394960"/>
            <a:ext cx="109728" cy="109728"/>
          </a:xfrm>
          <a:prstGeom prst="ellipse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040880" y="5394960"/>
            <a:ext cx="640080" cy="0"/>
          </a:xfrm>
          <a:prstGeom prst="line">
            <a:avLst/>
          </a:prstGeom>
          <a:ln w="25400">
            <a:solidFill>
              <a:srgbClr val="75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360920" y="5074920"/>
            <a:ext cx="0" cy="320040"/>
          </a:xfrm>
          <a:prstGeom prst="line">
            <a:avLst/>
          </a:prstGeom>
          <a:ln w="25400">
            <a:solidFill>
              <a:srgbClr val="75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21040" y="5394960"/>
            <a:ext cx="640080" cy="0"/>
          </a:xfrm>
          <a:prstGeom prst="line">
            <a:avLst/>
          </a:prstGeom>
          <a:ln w="25400">
            <a:solidFill>
              <a:srgbClr val="75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641080" y="5074920"/>
            <a:ext cx="0" cy="320040"/>
          </a:xfrm>
          <a:prstGeom prst="line">
            <a:avLst/>
          </a:prstGeom>
          <a:ln w="25400">
            <a:solidFill>
              <a:srgbClr val="75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5394960"/>
            <a:ext cx="640080" cy="0"/>
          </a:xfrm>
          <a:prstGeom prst="line">
            <a:avLst/>
          </a:prstGeom>
          <a:ln w="25400">
            <a:solidFill>
              <a:srgbClr val="75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21240" y="5074920"/>
            <a:ext cx="0" cy="320040"/>
          </a:xfrm>
          <a:prstGeom prst="line">
            <a:avLst/>
          </a:prstGeom>
          <a:ln w="25400">
            <a:solidFill>
              <a:srgbClr val="75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69480" y="5394960"/>
            <a:ext cx="1371600" cy="0"/>
          </a:xfrm>
          <a:prstGeom prst="line">
            <a:avLst/>
          </a:prstGeom>
          <a:ln w="25400">
            <a:solidFill>
              <a:srgbClr val="75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955279" y="4709160"/>
            <a:ext cx="0" cy="685800"/>
          </a:xfrm>
          <a:prstGeom prst="line">
            <a:avLst/>
          </a:prstGeom>
          <a:ln w="25400">
            <a:solidFill>
              <a:srgbClr val="75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921240" y="5394960"/>
            <a:ext cx="822960" cy="0"/>
          </a:xfrm>
          <a:prstGeom prst="line">
            <a:avLst/>
          </a:prstGeom>
          <a:ln w="25400">
            <a:solidFill>
              <a:srgbClr val="75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332720" y="4343400"/>
            <a:ext cx="0" cy="1051560"/>
          </a:xfrm>
          <a:prstGeom prst="line">
            <a:avLst/>
          </a:prstGeom>
          <a:ln w="25400">
            <a:solidFill>
              <a:srgbClr val="75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4"/>
                </a:solidFill>
                <a:latin typeface="Aptos Display"/>
              </a:defRPr>
            </a:pPr>
            <a:r>
              <a:t>Step 4 — Visualization &amp; Cluster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1188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97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943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Wine Sample Clustering • Machine Learning • KLH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3474720" cy="150876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73152" cy="1508760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26463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454"/>
                </a:solidFill>
                <a:latin typeface="Aptos Display"/>
              </a:defRPr>
            </a:pPr>
            <a:r>
              <a:t>Elbow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47088"/>
            <a:ext cx="310896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Aptos"/>
              </a:defRPr>
            </a:pPr>
            <a:r>
              <a:t>Shows inertia across different K values and supports cluster-count selection.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280160"/>
            <a:ext cx="3474720" cy="150876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280160"/>
            <a:ext cx="73152" cy="1508760"/>
          </a:xfrm>
          <a:prstGeom prst="rect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26463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454"/>
                </a:solidFill>
                <a:latin typeface="Aptos Display"/>
              </a:defRPr>
            </a:pPr>
            <a:r>
              <a:t>Cluster Plot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47088"/>
            <a:ext cx="310896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Aptos"/>
              </a:defRPr>
            </a:pPr>
            <a:r>
              <a:t>Visualizes the separation and overlap of the discovered groups.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280160"/>
            <a:ext cx="3474720" cy="150876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280160"/>
            <a:ext cx="73152" cy="1508760"/>
          </a:xfrm>
          <a:prstGeom prst="rect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426463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454"/>
                </a:solidFill>
                <a:latin typeface="Aptos Display"/>
              </a:defRPr>
            </a:pPr>
            <a:r>
              <a:t>Dendrogram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1847088"/>
            <a:ext cx="310896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Aptos"/>
              </a:defRPr>
            </a:pPr>
            <a:r>
              <a:t>Shows the hierarchy of sample relationships.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154680"/>
            <a:ext cx="3246120" cy="2240280"/>
          </a:xfrm>
          <a:prstGeom prst="roundRect">
            <a:avLst/>
          </a:prstGeom>
          <a:solidFill>
            <a:srgbClr val="F6F9FD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9184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454"/>
                </a:solidFill>
                <a:latin typeface="Aptos"/>
              </a:defRPr>
            </a:pPr>
            <a:r>
              <a:t>K vs Inertia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154680"/>
            <a:ext cx="3246120" cy="2240280"/>
          </a:xfrm>
          <a:prstGeom prst="roundRect">
            <a:avLst/>
          </a:prstGeom>
          <a:solidFill>
            <a:srgbClr val="F6F9FD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329184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454"/>
                </a:solidFill>
                <a:latin typeface="Aptos"/>
              </a:defRPr>
            </a:pPr>
            <a:r>
              <a:t>Cluster Space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3154680"/>
            <a:ext cx="3246120" cy="2240280"/>
          </a:xfrm>
          <a:prstGeom prst="roundRect">
            <a:avLst/>
          </a:prstGeom>
          <a:solidFill>
            <a:srgbClr val="F6F9FD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329184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454"/>
                </a:solidFill>
                <a:latin typeface="Aptos"/>
              </a:defRPr>
            </a:pPr>
            <a:r>
              <a:t>Hierarchy</a:t>
            </a:r>
          </a:p>
        </p:txBody>
      </p:sp>
      <p:sp>
        <p:nvSpPr>
          <p:cNvPr id="25" name="Oval 24"/>
          <p:cNvSpPr/>
          <p:nvPr/>
        </p:nvSpPr>
        <p:spPr>
          <a:xfrm>
            <a:off x="1325880" y="3703320"/>
            <a:ext cx="91440" cy="91440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45920" y="3931920"/>
            <a:ext cx="91440" cy="91440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965960" y="4224528"/>
            <a:ext cx="91440" cy="91440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331720" y="4407408"/>
            <a:ext cx="91440" cy="91440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43200" y="4553712"/>
            <a:ext cx="91440" cy="91440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46120" y="4645152"/>
            <a:ext cx="91440" cy="91440"/>
          </a:xfrm>
          <a:prstGeom prst="ellipse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92040" y="3840480"/>
            <a:ext cx="128016" cy="128016"/>
          </a:xfrm>
          <a:prstGeom prst="ellipse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57800" y="4069080"/>
            <a:ext cx="128016" cy="128016"/>
          </a:xfrm>
          <a:prstGeom prst="ellipse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77840" y="3794760"/>
            <a:ext cx="128016" cy="128016"/>
          </a:xfrm>
          <a:prstGeom prst="ellipse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897880" y="4114800"/>
            <a:ext cx="128016" cy="128016"/>
          </a:xfrm>
          <a:prstGeom prst="ellipse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83680" y="4572000"/>
            <a:ext cx="128016" cy="128016"/>
          </a:xfrm>
          <a:prstGeom prst="ellipse">
            <a:avLst/>
          </a:prstGeom>
          <a:solidFill>
            <a:srgbClr val="DD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03720" y="4343400"/>
            <a:ext cx="128016" cy="128016"/>
          </a:xfrm>
          <a:prstGeom prst="ellipse">
            <a:avLst/>
          </a:prstGeom>
          <a:solidFill>
            <a:srgbClr val="DD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32320" y="4709160"/>
            <a:ext cx="128016" cy="128016"/>
          </a:xfrm>
          <a:prstGeom prst="ellipse">
            <a:avLst/>
          </a:prstGeom>
          <a:solidFill>
            <a:srgbClr val="DD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77840" y="4892040"/>
            <a:ext cx="128016" cy="128016"/>
          </a:xfrm>
          <a:prstGeom prst="ellipse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897880" y="5074920"/>
            <a:ext cx="128016" cy="128016"/>
          </a:xfrm>
          <a:prstGeom prst="ellipse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4846320"/>
            <a:ext cx="128016" cy="128016"/>
          </a:xfrm>
          <a:prstGeom prst="ellipse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8641080" y="3886200"/>
            <a:ext cx="1920240" cy="0"/>
          </a:xfrm>
          <a:prstGeom prst="line">
            <a:avLst/>
          </a:prstGeom>
          <a:ln w="25400">
            <a:solidFill>
              <a:srgbClr val="75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915400" y="4343400"/>
            <a:ext cx="1097280" cy="0"/>
          </a:xfrm>
          <a:prstGeom prst="line">
            <a:avLst/>
          </a:prstGeom>
          <a:ln w="25400">
            <a:solidFill>
              <a:srgbClr val="75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189720" y="4800600"/>
            <a:ext cx="457200" cy="0"/>
          </a:xfrm>
          <a:prstGeom prst="line">
            <a:avLst/>
          </a:prstGeom>
          <a:ln w="25400">
            <a:solidFill>
              <a:srgbClr val="75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464040" y="5166360"/>
            <a:ext cx="182880" cy="0"/>
          </a:xfrm>
          <a:prstGeom prst="line">
            <a:avLst/>
          </a:prstGeom>
          <a:ln w="25400">
            <a:solidFill>
              <a:srgbClr val="75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F6976"/>
                </a:solidFill>
                <a:latin typeface="Aptos"/>
              </a:defRPr>
            </a:pPr>
            <a:r>
              <a:t>These visuals are analysis tools; actual plots should be generated from the final dataset used in the implementation.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4"/>
                </a:solidFill>
                <a:latin typeface="Aptos Display"/>
              </a:defRPr>
            </a:pPr>
            <a:r>
              <a:t>Evaluation &amp;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1188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97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943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Wine Sample Clustering • Machine Learning • KLH University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442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86200"/>
                <a:gridCol w="4114800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C3454"/>
                          </a:solidFill>
                          <a:latin typeface="Aptos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E1E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C3454"/>
                          </a:solidFill>
                          <a:latin typeface="Aptos"/>
                        </a:defRPr>
                      </a:pPr>
                      <a:r>
                        <a:t>K-Means</a:t>
                      </a:r>
                    </a:p>
                  </a:txBody>
                  <a:tcPr>
                    <a:solidFill>
                      <a:srgbClr val="E1E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C3454"/>
                          </a:solidFill>
                          <a:latin typeface="Aptos"/>
                        </a:defRPr>
                      </a:pPr>
                      <a:r>
                        <a:t>Hierarchical Clustering</a:t>
                      </a:r>
                    </a:p>
                  </a:txBody>
                  <a:tcPr>
                    <a:solidFill>
                      <a:srgbClr val="E1ED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Centroid-based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Hierarchy / tree-based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Cluster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Choose K before clustering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Can select clusters by cutting dendrogram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Main visual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Cluster plot / Elbow curve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Dendrogram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Use in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Fast grouping of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Detailed view of sample relationships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4663440"/>
            <a:ext cx="512064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663440"/>
            <a:ext cx="73152" cy="1143000"/>
          </a:xfrm>
          <a:prstGeom prst="rect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4809744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454"/>
                </a:solidFill>
                <a:latin typeface="Aptos Display"/>
              </a:defRPr>
            </a:pPr>
            <a:r>
              <a:t>Silhouette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5230368"/>
            <a:ext cx="4754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Measures how well samples fit within their assigned clusters compared with neighboring clusters.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663440"/>
            <a:ext cx="525780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4663440"/>
            <a:ext cx="73152" cy="1143000"/>
          </a:xfrm>
          <a:prstGeom prst="rect">
            <a:avLst/>
          </a:prstGeom>
          <a:solidFill>
            <a:srgbClr val="DD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480974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454"/>
                </a:solidFill>
                <a:latin typeface="Aptos Display"/>
              </a:defRPr>
            </a:pPr>
            <a:r>
              <a:t>Important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5230368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Do not report a final score until the actual dataset has been processed and the model has been executed.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4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1188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97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943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Wine Sample Clustering • Machine Learning • KLH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57800" cy="196596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1965960"/>
          </a:xfrm>
          <a:prstGeom prst="rect">
            <a:avLst/>
          </a:prstGeom>
          <a:solidFill>
            <a:srgbClr val="437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7218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C3454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92807"/>
            <a:ext cx="489204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4"/>
                </a:solidFill>
                <a:latin typeface="Aptos"/>
              </a:defRPr>
            </a:pPr>
            <a:r>
              <a:t>The project demonstrates how unsupervised machine learning can group wine samples using their chemical properties. K-Means and Hierarchical Clustering provide complementary ways to discover natural groupings and relationships.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57800" cy="196596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73152" cy="1965960"/>
          </a:xfrm>
          <a:prstGeom prst="rect">
            <a:avLst/>
          </a:prstGeom>
          <a:solidFill>
            <a:srgbClr val="4C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7218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C3454"/>
                </a:solidFill>
                <a:latin typeface="Aptos Display"/>
              </a:defRPr>
            </a:pPr>
            <a:r>
              <a:t>Key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892807"/>
            <a:ext cx="489204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4"/>
                </a:solidFill>
                <a:latin typeface="Aptos"/>
              </a:defRPr>
            </a:pPr>
            <a:r>
              <a:t>The workflow covers preprocessing, standardization, clustering, visualization and evaluation using tools such as the Elbow Method, dendrograms and Silhouette Score.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257800" cy="16002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657600"/>
            <a:ext cx="73152" cy="1600200"/>
          </a:xfrm>
          <a:prstGeom prst="rect">
            <a:avLst/>
          </a:prstGeom>
          <a:solidFill>
            <a:srgbClr val="75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80390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3454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224528"/>
            <a:ext cx="48920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• Try different linkage methods</a:t>
            </a:r>
            <a:br/>
            <a:r>
              <a:t>• Compare additional clustering algorithms</a:t>
            </a:r>
            <a:br/>
            <a:r>
              <a:t>• Use dimensionality reduction for visualization</a:t>
            </a:r>
            <a:br/>
            <a:r>
              <a:t>• Test on larger or new wine datasets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257800" cy="1600200"/>
          </a:xfrm>
          <a:prstGeom prst="roundRect">
            <a:avLst/>
          </a:prstGeom>
          <a:solidFill>
            <a:srgbClr val="F6F9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73152" cy="1600200"/>
          </a:xfrm>
          <a:prstGeom prst="rect">
            <a:avLst/>
          </a:prstGeom>
          <a:solidFill>
            <a:srgbClr val="DD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80390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3454"/>
                </a:solidFill>
                <a:latin typeface="Aptos Display"/>
              </a:defRPr>
            </a:pPr>
            <a:r>
              <a:t>Final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224528"/>
            <a:ext cx="48920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Clustering can uncover hidden patterns in unlabeled chemical data and provide an interpretable way to explore similarity among wine samples.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715000"/>
            <a:ext cx="6309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C3454"/>
                </a:solidFill>
                <a:latin typeface="Aptos Display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